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B0F"/>
        </a:solidFill>
      </p:bgPr>
    </p:bg>
    <p:spTree>
      <p:nvGrpSpPr>
        <p:cNvPr id="1" name=""/>
        <p:cNvGrpSpPr/>
        <p:nvPr/>
      </p:nvGrpSpPr>
      <p:grpSpPr>
        <a:xfrm>
          <a:off x="0" y="0"/>
          <a:ext cx="0" cy="0"/>
          <a:chOff x="0" y="0"/>
          <a:chExt cx="0" cy="0"/>
        </a:xfrm>
      </p:grpSpPr>
      <p:sp>
        <p:nvSpPr>
          <p:cNvPr id="2" name="Text 0"/>
          <p:cNvSpPr/>
          <p:nvPr/>
        </p:nvSpPr>
        <p:spPr>
          <a:xfrm>
            <a:off x="548640" y="2011680"/>
            <a:ext cx="8046720" cy="1097280"/>
          </a:xfrm>
          <a:prstGeom prst="rect">
            <a:avLst/>
          </a:prstGeom>
          <a:noFill/>
          <a:ln/>
        </p:spPr>
        <p:txBody>
          <a:bodyPr wrap="square" rtlCol="0" anchor="ctr"/>
          <a:lstStyle/>
          <a:p>
            <a:pPr indent="0" marL="0">
              <a:buNone/>
            </a:pPr>
            <a:r>
              <a:rPr lang="en-US" sz="3200" b="1" dirty="0">
                <a:solidFill>
                  <a:srgbClr val="E8E9ED"/>
                </a:solidFill>
                <a:latin typeface="Georgia" pitchFamily="34" charset="0"/>
                <a:ea typeface="Georgia" pitchFamily="34" charset="-122"/>
                <a:cs typeface="Georgia" pitchFamily="34" charset="-120"/>
              </a:rPr>
              <a:t>generate ppt in world of ai</a:t>
            </a:r>
            <a:endParaRPr lang="en-US" sz="3200" dirty="0"/>
          </a:p>
        </p:txBody>
      </p:sp>
      <p:sp>
        <p:nvSpPr>
          <p:cNvPr id="3" name="Text 1"/>
          <p:cNvSpPr/>
          <p:nvPr/>
        </p:nvSpPr>
        <p:spPr>
          <a:xfrm>
            <a:off x="548640" y="3017520"/>
            <a:ext cx="8046720" cy="457200"/>
          </a:xfrm>
          <a:prstGeom prst="rect">
            <a:avLst/>
          </a:prstGeom>
          <a:noFill/>
          <a:ln/>
        </p:spPr>
        <p:txBody>
          <a:bodyPr wrap="square" rtlCol="0" anchor="ctr"/>
          <a:lstStyle/>
          <a:p>
            <a:pPr indent="0" marL="0">
              <a:buNone/>
            </a:pPr>
            <a:r>
              <a:rPr lang="en-US" sz="1200" dirty="0">
                <a:solidFill>
                  <a:srgbClr val="7C6FF0"/>
                </a:solidFill>
              </a:rPr>
              <a:t>Generated by Brain — Multi-Agent AI Platform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B0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indent="0" marL="0">
              <a:buNone/>
            </a:pPr>
            <a:r>
              <a:rPr lang="en-US" sz="2200" b="1" dirty="0">
                <a:solidFill>
                  <a:srgbClr val="7C6FF0"/>
                </a:solidFill>
                <a:latin typeface="Georgia" pitchFamily="34" charset="0"/>
                <a:ea typeface="Georgia" pitchFamily="34" charset="-122"/>
                <a:cs typeface="Georgia" pitchFamily="34" charset="-120"/>
              </a:rPr>
              <a:t>**Introduction to AI and its Applications**</a:t>
            </a:r>
            <a:endParaRPr lang="en-US" sz="2200" dirty="0"/>
          </a:p>
        </p:txBody>
      </p:sp>
      <p:sp>
        <p:nvSpPr>
          <p:cNvPr id="3" name="Text 1"/>
          <p:cNvSpPr/>
          <p:nvPr/>
        </p:nvSpPr>
        <p:spPr>
          <a:xfrm>
            <a:off x="548640" y="1188720"/>
            <a:ext cx="7863840" cy="3474720"/>
          </a:xfrm>
          <a:prstGeom prst="rect">
            <a:avLst/>
          </a:prstGeom>
          <a:noFill/>
          <a:ln/>
        </p:spPr>
        <p:txBody>
          <a:bodyPr wrap="square" rtlCol="0" anchor="t"/>
          <a:lstStyle/>
          <a:p>
            <a:pPr marL="342900" indent="-342900">
              <a:buSzPct val="100000"/>
              <a:buChar char="•"/>
            </a:pPr>
            <a:r>
              <a:rPr lang="en-US" sz="1600" dirty="0">
                <a:solidFill>
                  <a:srgbClr val="E8E9ED"/>
                </a:solidFill>
              </a:rPr>
              <a:t>Artificial Intelligence (AI) refers to the development of computer systems that can perform tasks that typically require human intelligence, such as learning, problem-solving, and decision-making. AI has numerous applications in modern technology, including virtual assistants, image and speech recognition, and autonomous vehicles. The potential benefits of AI include increased efficiency, improved accuracy, and enhanced decision-making, while the risks include job displacement, bias, and cybersecurity threats.</a:t>
            </a:r>
            <a:endParaRPr lang="en-US" sz="1600" dirty="0"/>
          </a:p>
          <a:p>
            <a:pPr marL="342900" indent="-342900">
              <a:buSzPct val="100000"/>
              <a:buChar char="•"/>
            </a:pPr>
            <a:r>
              <a:rPr lang="en-US" sz="1600" dirty="0">
                <a:solidFill>
                  <a:srgbClr val="E8E9ED"/>
                </a:solidFill>
              </a:rPr>
              <a:t>*Types of AI**</a:t>
            </a:r>
            <a:endParaRPr lang="en-US" sz="1600" dirty="0"/>
          </a:p>
          <a:p>
            <a:pPr marL="342900" indent="-342900">
              <a:buSzPct val="100000"/>
              <a:buChar char="•"/>
            </a:pPr>
            <a:r>
              <a:rPr lang="en-US" sz="1600" dirty="0">
                <a:solidFill>
                  <a:srgbClr val="E8E9ED"/>
                </a:solidFill>
              </a:rPr>
              <a:t>There are several types of AI, including:</a:t>
            </a:r>
            <a:endParaRPr lang="en-US" sz="1600" dirty="0"/>
          </a:p>
          <a:p>
            <a:pPr marL="342900" indent="-342900">
              <a:buSzPct val="100000"/>
              <a:buChar char="•"/>
            </a:pPr>
            <a:r>
              <a:rPr lang="en-US" sz="1600" dirty="0">
                <a:solidFill>
                  <a:srgbClr val="E8E9ED"/>
                </a:solidFill>
              </a:rPr>
              <a:t>1. **Machine Learning (ML)**: a subset of AI that involves training algorithms on data to enable predictive modeling and decision-making, with subsets including supervised, unsupervised, and reinforcement learning.</a:t>
            </a:r>
            <a:endParaRPr lang="en-US" sz="1600" dirty="0"/>
          </a:p>
          <a:p>
            <a:pPr marL="342900" indent="-342900">
              <a:buSzPct val="100000"/>
              <a:buChar char="•"/>
            </a:pPr>
            <a:r>
              <a:rPr lang="en-US" sz="1600" dirty="0">
                <a:solidFill>
                  <a:srgbClr val="E8E9ED"/>
                </a:solidFill>
              </a:rPr>
              <a:t>2. **Natural Language Processing (NLP)**: a type of AI that deals with the interaction between computers and human language, with applications including chatbots, sentiment analysis, and language translation.</a:t>
            </a:r>
            <a:endParaRPr lang="en-US" sz="1600" dirty="0"/>
          </a:p>
          <a:p>
            <a:pPr marL="342900" indent="-342900">
              <a:buSzPct val="100000"/>
              <a:buChar char="•"/>
            </a:pPr>
            <a:r>
              <a:rPr lang="en-US" sz="1600" dirty="0">
                <a:solidFill>
                  <a:srgbClr val="E8E9ED"/>
                </a:solidFill>
              </a:rPr>
              <a:t>3. **Computer Vision**: a type of AI that enables computers to interpret and understand visual data from images and videos, with uses including image recognition, object detection, and facial recognition.</a:t>
            </a:r>
            <a:endParaRPr lang="en-US" sz="1600" dirty="0"/>
          </a:p>
          <a:p>
            <a:pPr marL="342900" indent="-342900">
              <a:buSzPct val="100000"/>
              <a:buChar char="•"/>
            </a:pPr>
            <a:r>
              <a:rPr lang="en-US" sz="1600" dirty="0">
                <a:solidFill>
                  <a:srgbClr val="E8E9ED"/>
                </a:solidFill>
              </a:rPr>
              <a:t>*AI in Daily Life**</a:t>
            </a:r>
            <a:endParaRPr lang="en-US" sz="1600" dirty="0"/>
          </a:p>
          <a:p>
            <a:pPr marL="342900" indent="-342900">
              <a:buSzPct val="100000"/>
              <a:buChar char="•"/>
            </a:pPr>
            <a:r>
              <a:rPr lang="en-US" sz="1600" dirty="0">
                <a:solidFill>
                  <a:srgbClr val="E8E9ED"/>
                </a:solidFill>
              </a:rPr>
              <a:t>AI is increasingly being used in daily life, including:</a:t>
            </a:r>
            <a:endParaRPr lang="en-US" sz="1600" dirty="0"/>
          </a:p>
          <a:p>
            <a:pPr marL="342900" indent="-342900">
              <a:buSzPct val="100000"/>
              <a:buChar char="•"/>
            </a:pPr>
            <a:r>
              <a:rPr lang="en-US" sz="1600" dirty="0">
                <a:solidFill>
                  <a:srgbClr val="E8E9ED"/>
                </a:solidFill>
              </a:rPr>
              <a:t>1. **Virtual Assistants**: such as Siri and Alexa, use AI to understand voice commands and perform tasks, while smart home devices use AI to learn and adapt to user preferences.</a:t>
            </a:r>
            <a:endParaRPr lang="en-US" sz="1600" dirty="0"/>
          </a:p>
          <a:p>
            <a:pPr marL="342900" indent="-342900">
              <a:buSzPct val="100000"/>
              <a:buChar char="•"/>
            </a:pPr>
            <a:r>
              <a:rPr lang="en-US" sz="1600" dirty="0">
                <a:solidFill>
                  <a:srgbClr val="E8E9ED"/>
                </a:solidFill>
              </a:rPr>
              <a:t>2. **Image and Speech Recognition**: technology is used in applications including security systems, self-driving cars, and personal assistants.</a:t>
            </a:r>
            <a:endParaRPr lang="en-US" sz="1600" dirty="0"/>
          </a:p>
          <a:p>
            <a:pPr marL="342900" indent="-342900">
              <a:buSzPct val="100000"/>
              <a:buChar char="•"/>
            </a:pPr>
            <a:r>
              <a:rPr lang="en-US" sz="1600" dirty="0">
                <a:solidFill>
                  <a:srgbClr val="E8E9ED"/>
                </a:solidFill>
              </a:rPr>
              <a:t>3. **Healthcare**: AI-powered healthcare systems can analyze medical images, diagnose diseases, and develop personalized treatment plans, while AI-powered transportation systems can optimize traffic flow and improve safety.</a:t>
            </a:r>
            <a:endParaRPr lang="en-US" sz="1600" dirty="0"/>
          </a:p>
          <a:p>
            <a:pPr marL="342900" indent="-342900">
              <a:buSzPct val="100000"/>
              <a:buChar char="•"/>
            </a:pPr>
            <a:r>
              <a:rPr lang="en-US" sz="1600" dirty="0">
                <a:solidFill>
                  <a:srgbClr val="E8E9ED"/>
                </a:solidFill>
              </a:rPr>
              <a:t>*Future of AI**</a:t>
            </a:r>
            <a:endParaRPr lang="en-US" sz="1600" dirty="0"/>
          </a:p>
          <a:p>
            <a:pPr marL="342900" indent="-342900">
              <a:buSzPct val="100000"/>
              <a:buChar char="•"/>
            </a:pPr>
            <a:r>
              <a:rPr lang="en-US" sz="1600" dirty="0">
                <a:solidFill>
                  <a:srgbClr val="E8E9ED"/>
                </a:solidFill>
              </a:rPr>
              <a:t>Emerging trends and technologies in AI include edge AI, explainable AI, and transfer learning, which have the potential to improve efficiency, transparency, and adaptability. However, the potential impact of AI on jobs and society includes job displacement, changes in skill requirements, and potential biases in decision-making. Ethics and regulations in AI development and use are crucial to ensure that AI systems are fair, transparent, and accountable, and that their benefits are equitably distributed.</a:t>
            </a:r>
            <a:endParaRPr lang="en-US" sz="1600" dirty="0"/>
          </a:p>
          <a:p>
            <a:pPr marL="342900" indent="-342900">
              <a:buSzPct val="100000"/>
              <a:buChar char="•"/>
            </a:pPr>
            <a:r>
              <a:rPr lang="en-US" sz="1600" dirty="0">
                <a:solidFill>
                  <a:srgbClr val="E8E9ED"/>
                </a:solidFill>
              </a:rPr>
              <a:t>*Conclusion**</a:t>
            </a:r>
            <a:endParaRPr lang="en-US" sz="1600" dirty="0"/>
          </a:p>
          <a:p>
            <a:pPr marL="342900" indent="-342900">
              <a:buSzPct val="100000"/>
              <a:buChar char="•"/>
            </a:pPr>
            <a:r>
              <a:rPr lang="en-US" sz="1600" dirty="0">
                <a:solidFill>
                  <a:srgbClr val="E8E9ED"/>
                </a:solidFill>
              </a:rPr>
              <a:t>AI has the potential to revolutionize numerous aspects of modern life, from healthcare and transportation to education and entertainment. However, responsible AI development and use require careful consideration of the potential risks and benefits, as well as ongoing monitoring and evaluation. Further exploration and learning about AI can help to unlock its full potential and ensure that its benefits are equitably distributed, while minimizing its risks and negative consequences.</a:t>
            </a:r>
            <a:endParaRPr lang="en-US" sz="1600" dirty="0"/>
          </a:p>
          <a:p>
            <a:pPr marL="342900" indent="-342900">
              <a:buSzPct val="100000"/>
              <a:buChar char="•"/>
            </a:pPr>
            <a:r>
              <a:rPr lang="en-US" sz="1600" dirty="0">
                <a:solidFill>
                  <a:srgbClr val="E8E9ED"/>
                </a:solidFill>
              </a:rPr>
              <a:t>*Example Code: Image Classification using Machine Learning**</a:t>
            </a:r>
            <a:endParaRPr lang="en-US" sz="1600" dirty="0"/>
          </a:p>
          <a:p>
            <a:pPr marL="342900" indent="-342900">
              <a:buSzPct val="100000"/>
              <a:buChar char="•"/>
            </a:pPr>
            <a:r>
              <a:rPr lang="en-US" sz="1600" dirty="0">
                <a:solidFill>
                  <a:srgbClr val="E8E9ED"/>
                </a:solidFill>
              </a:rPr>
              <a:t>To illustrate the concept of AI in action, consider the following JavaScript code that uses machine learning to classify images:</a:t>
            </a:r>
            <a:endParaRPr lang="en-US" sz="1600" dirty="0"/>
          </a:p>
          <a:p>
            <a:pPr marL="342900" indent="-342900">
              <a:buSzPct val="100000"/>
              <a:buChar char="•"/>
            </a:pPr>
            <a:r>
              <a:rPr lang="en-US" sz="1600" dirty="0">
                <a:solidFill>
                  <a:srgbClr val="E8E9ED"/>
                </a:solidFill>
              </a:rPr>
              <a:t>```javascript</a:t>
            </a:r>
            <a:endParaRPr lang="en-US" sz="1600" dirty="0"/>
          </a:p>
          <a:p>
            <a:pPr marL="342900" indent="-342900">
              <a:buSzPct val="100000"/>
              <a:buChar char="•"/>
            </a:pPr>
            <a:r>
              <a:rPr lang="en-US" sz="1600" dirty="0">
                <a:solidFill>
                  <a:srgbClr val="E8E9ED"/>
                </a:solidFill>
              </a:rPr>
              <a:t>// Import the required libraries</a:t>
            </a:r>
            <a:endParaRPr lang="en-US" sz="1600" dirty="0"/>
          </a:p>
          <a:p>
            <a:pPr marL="342900" indent="-342900">
              <a:buSzPct val="100000"/>
              <a:buChar char="•"/>
            </a:pPr>
            <a:r>
              <a:rPr lang="en-US" sz="1600" dirty="0">
                <a:solidFill>
                  <a:srgbClr val="E8E9ED"/>
                </a:solidFill>
              </a:rPr>
              <a:t>const tf = require('@tensorflow/tfjs');</a:t>
            </a:r>
            <a:endParaRPr lang="en-US" sz="1600" dirty="0"/>
          </a:p>
          <a:p>
            <a:pPr marL="342900" indent="-342900">
              <a:buSzPct val="100000"/>
              <a:buChar char="•"/>
            </a:pPr>
            <a:r>
              <a:rPr lang="en-US" sz="1600" dirty="0">
                <a:solidFill>
                  <a:srgbClr val="E8E9ED"/>
                </a:solidFill>
              </a:rPr>
              <a:t>const tfnode = require('@tensorflow/tfjs-node');</a:t>
            </a:r>
            <a:endParaRPr lang="en-US" sz="1600" dirty="0"/>
          </a:p>
          <a:p>
            <a:pPr marL="342900" indent="-342900">
              <a:buSzPct val="100000"/>
              <a:buChar char="•"/>
            </a:pPr>
            <a:r>
              <a:rPr lang="en-US" sz="1600" dirty="0">
                <a:solidFill>
                  <a:srgbClr val="E8E9ED"/>
                </a:solidFill>
              </a:rPr>
              <a:t>const fs = require('fs').promises;</a:t>
            </a:r>
            <a:endParaRPr lang="en-US" sz="1600" dirty="0"/>
          </a:p>
          <a:p>
            <a:pPr marL="342900" indent="-342900">
              <a:buSzPct val="100000"/>
              <a:buChar char="•"/>
            </a:pPr>
            <a:r>
              <a:rPr lang="en-US" sz="1600" dirty="0">
                <a:solidFill>
                  <a:srgbClr val="E8E9ED"/>
                </a:solidFill>
              </a:rPr>
              <a:t>// Define an async function to load and classify the image</a:t>
            </a:r>
            <a:endParaRPr lang="en-US" sz="1600" dirty="0"/>
          </a:p>
          <a:p>
            <a:pPr marL="342900" indent="-342900">
              <a:buSzPct val="100000"/>
              <a:buChar char="•"/>
            </a:pPr>
            <a:r>
              <a:rPr lang="en-US" sz="1600" dirty="0">
                <a:solidFill>
                  <a:srgbClr val="E8E9ED"/>
                </a:solidFill>
              </a:rPr>
              <a:t>async function classifyImage() {</a:t>
            </a:r>
            <a:endParaRPr lang="en-US" sz="1600" dirty="0"/>
          </a:p>
          <a:p>
            <a:pPr marL="342900" indent="-342900">
              <a:buSzPct val="100000"/>
              <a:buChar char="•"/>
            </a:pPr>
            <a:r>
              <a:rPr lang="en-US" sz="1600" dirty="0">
                <a:solidFill>
                  <a:srgbClr val="E8E9ED"/>
                </a:solidFill>
              </a:rPr>
              <a:t>// Load the image classification model</a:t>
            </a:r>
            <a:endParaRPr lang="en-US" sz="1600" dirty="0"/>
          </a:p>
          <a:p>
            <a:pPr marL="342900" indent="-342900">
              <a:buSzPct val="100000"/>
              <a:buChar char="•"/>
            </a:pPr>
            <a:r>
              <a:rPr lang="en-US" sz="1600" dirty="0">
                <a:solidFill>
                  <a:srgbClr val="E8E9ED"/>
                </a:solidFill>
              </a:rPr>
              <a:t>const model = await tf.loadLayersModel('https://example.com/model.json');</a:t>
            </a:r>
            <a:endParaRPr lang="en-US" sz="1600" dirty="0"/>
          </a:p>
          <a:p>
            <a:pPr marL="342900" indent="-342900">
              <a:buSzPct val="100000"/>
              <a:buChar char="•"/>
            </a:pPr>
            <a:r>
              <a:rPr lang="en-US" sz="1600" dirty="0">
                <a:solidFill>
                  <a:srgbClr val="E8E9ED"/>
                </a:solidFill>
              </a:rPr>
              <a:t>// Load the image to be classified</a:t>
            </a:r>
            <a:endParaRPr lang="en-US" sz="1600" dirty="0"/>
          </a:p>
          <a:p>
            <a:pPr marL="342900" indent="-342900">
              <a:buSzPct val="100000"/>
              <a:buChar char="•"/>
            </a:pPr>
            <a:r>
              <a:rPr lang="en-US" sz="1600" dirty="0">
                <a:solidFill>
                  <a:srgbClr val="E8E9ED"/>
                </a:solidFill>
              </a:rPr>
              <a:t>const imgBuffer = await fs.readFile('image.jpg');</a:t>
            </a:r>
            <a:endParaRPr lang="en-US" sz="1600" dirty="0"/>
          </a:p>
          <a:p>
            <a:pPr marL="342900" indent="-342900">
              <a:buSzPct val="100000"/>
              <a:buChar char="•"/>
            </a:pPr>
            <a:r>
              <a:rPr lang="en-US" sz="1600" dirty="0">
                <a:solidFill>
                  <a:srgbClr val="E8E9ED"/>
                </a:solidFill>
              </a:rPr>
              <a:t>const img = await tfnode.decodeImage(imgBuffer, 3);</a:t>
            </a:r>
            <a:endParaRPr lang="en-US" sz="1600" dirty="0"/>
          </a:p>
          <a:p>
            <a:pPr marL="342900" indent="-342900">
              <a:buSzPct val="100000"/>
              <a:buChar char="•"/>
            </a:pPr>
            <a:r>
              <a:rPr lang="en-US" sz="1600" dirty="0">
                <a:solidFill>
                  <a:srgbClr val="E8E9ED"/>
                </a:solidFill>
              </a:rPr>
              <a:t>// Preprocess the image</a:t>
            </a:r>
            <a:endParaRPr lang="en-US" sz="1600" dirty="0"/>
          </a:p>
          <a:p>
            <a:pPr marL="342900" indent="-342900">
              <a:buSzPct val="100000"/>
              <a:buChar char="•"/>
            </a:pPr>
            <a:r>
              <a:rPr lang="en-US" sz="1600" dirty="0">
                <a:solidFill>
                  <a:srgbClr val="E8E9ED"/>
                </a:solidFill>
              </a:rPr>
              <a:t>const resizedImg = tf.image.resizeBilinear(img, [224, 224]);</a:t>
            </a:r>
            <a:endParaRPr lang="en-US" sz="1600" dirty="0"/>
          </a:p>
          <a:p>
            <a:pPr marL="342900" indent="-342900">
              <a:buSzPct val="100000"/>
              <a:buChar char="•"/>
            </a:pPr>
            <a:r>
              <a:rPr lang="en-US" sz="1600" dirty="0">
                <a:solidFill>
                  <a:srgbClr val="E8E9ED"/>
                </a:solidFill>
              </a:rPr>
              <a:t>const normalizedImg = resizedImg.toFloat().div(255);</a:t>
            </a:r>
            <a:endParaRPr lang="en-US" sz="1600" dirty="0"/>
          </a:p>
          <a:p>
            <a:pPr marL="342900" indent="-342900">
              <a:buSzPct val="100000"/>
              <a:buChar char="•"/>
            </a:pPr>
            <a:r>
              <a:rPr lang="en-US" sz="1600" dirty="0">
                <a:solidFill>
                  <a:srgbClr val="E8E9ED"/>
                </a:solidFill>
              </a:rPr>
              <a:t>// Make predictions using the model</a:t>
            </a:r>
            <a:endParaRPr lang="en-US" sz="1600" dirty="0"/>
          </a:p>
          <a:p>
            <a:pPr marL="342900" indent="-342900">
              <a:buSzPct val="100000"/>
              <a:buChar char="•"/>
            </a:pPr>
            <a:r>
              <a:rPr lang="en-US" sz="1600" dirty="0">
                <a:solidFill>
                  <a:srgbClr val="E8E9ED"/>
                </a:solidFill>
              </a:rPr>
              <a:t>const predictions = await model.predict(normalizedImg);</a:t>
            </a:r>
            <a:endParaRPr lang="en-US" sz="1600" dirty="0"/>
          </a:p>
          <a:p>
            <a:pPr marL="342900" indent="-342900">
              <a:buSzPct val="100000"/>
              <a:buChar char="•"/>
            </a:pPr>
            <a:r>
              <a:rPr lang="en-US" sz="1600" dirty="0">
                <a:solidFill>
                  <a:srgbClr val="E8E9ED"/>
                </a:solidFill>
              </a:rPr>
              <a:t>// Print the predicted class</a:t>
            </a:r>
            <a:endParaRPr lang="en-US" sz="1600" dirty="0"/>
          </a:p>
          <a:p>
            <a:pPr marL="342900" indent="-342900">
              <a:buSzPct val="100000"/>
              <a:buChar char="•"/>
            </a:pPr>
            <a:r>
              <a:rPr lang="en-US" sz="1600" dirty="0">
                <a:solidFill>
                  <a:srgbClr val="E8E9ED"/>
                </a:solidFill>
              </a:rPr>
              <a:t>console.log(predictions.argMax(-1).dataSync()[0]);</a:t>
            </a:r>
            <a:endParaRPr lang="en-US" sz="1600" dirty="0"/>
          </a:p>
          <a:p>
            <a:pPr marL="342900" indent="-342900">
              <a:buSzPct val="100000"/>
              <a:buChar char="•"/>
            </a:pPr>
            <a:r>
              <a:rPr lang="en-US" sz="1600" dirty="0">
                <a:solidFill>
                  <a:srgbClr val="E8E9ED"/>
                </a:solidFill>
              </a:rPr>
              <a:t>}</a:t>
            </a:r>
            <a:endParaRPr lang="en-US" sz="1600" dirty="0"/>
          </a:p>
          <a:p>
            <a:pPr marL="342900" indent="-342900">
              <a:buSzPct val="100000"/>
              <a:buChar char="•"/>
            </a:pPr>
            <a:r>
              <a:rPr lang="en-US" sz="1600" dirty="0">
                <a:solidFill>
                  <a:srgbClr val="E8E9ED"/>
                </a:solidFill>
              </a:rPr>
              <a:t>// Call the async function</a:t>
            </a:r>
            <a:endParaRPr lang="en-US" sz="1600" dirty="0"/>
          </a:p>
          <a:p>
            <a:pPr marL="342900" indent="-342900">
              <a:buSzPct val="100000"/>
              <a:buChar char="•"/>
            </a:pPr>
            <a:r>
              <a:rPr lang="en-US" sz="1600" dirty="0">
                <a:solidFill>
                  <a:srgbClr val="E8E9ED"/>
                </a:solidFill>
              </a:rPr>
              <a:t>classifyImage();</a:t>
            </a:r>
            <a:endParaRPr lang="en-US" sz="1600" dirty="0"/>
          </a:p>
          <a:p>
            <a:pPr marL="342900" indent="-342900">
              <a:buSzPct val="100000"/>
              <a:buChar char="•"/>
            </a:pPr>
            <a:r>
              <a:rPr lang="en-US" sz="1600" dirty="0">
                <a:solidFill>
                  <a:srgbClr val="E8E9ED"/>
                </a:solidFill>
              </a:rPr>
              <a:t>```</a:t>
            </a:r>
            <a:endParaRPr lang="en-US" sz="1600" dirty="0"/>
          </a:p>
          <a:p>
            <a:pPr marL="342900" indent="-342900">
              <a:buSzPct val="100000"/>
              <a:buChar char="•"/>
            </a:pPr>
            <a:r>
              <a:rPr lang="en-US" sz="1600" dirty="0">
                <a:solidFill>
                  <a:srgbClr val="E8E9ED"/>
                </a:solidFill>
              </a:rPr>
              <a:t>Note: This code uses the `@tensorflow/tfjs` and `@tensorflow/tfjs-node` libraries to load and classify an image using a machine learning model. The `classifyImage` function is defined as an async function to allow the use of `await` for loading the model and image, and making predictions.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2026-07-13T08:08:57Z</dcterms:created>
  <dcterms:modified xsi:type="dcterms:W3CDTF">2026-07-13T08:08:57Z</dcterms:modified>
</cp:coreProperties>
</file>